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CREATE. CONNECT. CONVERT.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1417320"/>
            <a:ext cx="11155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Salesperson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5200" dirty="0"/>
          </a:p>
        </p:txBody>
      </p:sp>
      <p:sp>
        <p:nvSpPr>
          <p:cNvPr id="52" name="Shape 49"/>
          <p:cNvSpPr/>
          <p:nvPr/>
        </p:nvSpPr>
        <p:spPr>
          <a:xfrm>
            <a:off x="502920" y="3611880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3840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are. What we build. How each module works.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price: 13% of the annual salary for that role, plus a monthly retainer sized to the project.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A3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onyxwebsystems.co.za     ·     confidential     ·   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leave knowing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554480"/>
            <a:ext cx="11155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85800" y="17190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5" name="Text 52"/>
          <p:cNvSpPr/>
          <p:nvPr/>
        </p:nvSpPr>
        <p:spPr>
          <a:xfrm>
            <a:off x="1554480" y="1664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1554480" y="1956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Founders, philosophy, how we think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502920" y="2423160"/>
            <a:ext cx="11155680" cy="77724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85800" y="25877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59" name="Text 56"/>
          <p:cNvSpPr/>
          <p:nvPr/>
        </p:nvSpPr>
        <p:spPr>
          <a:xfrm>
            <a:off x="1554480" y="2532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sell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1554480" y="282549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BOS, websites, applications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502920" y="3291840"/>
            <a:ext cx="11155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85800" y="34564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1554480" y="3401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price</a:t>
            </a:r>
            <a:endParaRPr lang="en-US" sz="1800" dirty="0"/>
          </a:p>
        </p:txBody>
      </p:sp>
      <p:sp>
        <p:nvSpPr>
          <p:cNvPr id="64" name="Text 61"/>
          <p:cNvSpPr/>
          <p:nvPr/>
        </p:nvSpPr>
        <p:spPr>
          <a:xfrm>
            <a:off x="1554480" y="369417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module fee + monthly retainer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502920" y="4160520"/>
            <a:ext cx="11155680" cy="77724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85800" y="4325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67" name="Text 64"/>
          <p:cNvSpPr/>
          <p:nvPr/>
        </p:nvSpPr>
        <p:spPr>
          <a:xfrm>
            <a:off x="1554480" y="42702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modules</a:t>
            </a:r>
            <a:endParaRPr lang="en-US" sz="1800" dirty="0"/>
          </a:p>
        </p:txBody>
      </p:sp>
      <p:sp>
        <p:nvSpPr>
          <p:cNvPr id="68" name="Text 65"/>
          <p:cNvSpPr/>
          <p:nvPr/>
        </p:nvSpPr>
        <p:spPr>
          <a:xfrm>
            <a:off x="1554480" y="456285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inside each, how it works</a:t>
            </a:r>
            <a:endParaRPr lang="en-US" sz="1300" dirty="0"/>
          </a:p>
        </p:txBody>
      </p:sp>
      <p:sp>
        <p:nvSpPr>
          <p:cNvPr id="69" name="Shape 66"/>
          <p:cNvSpPr/>
          <p:nvPr/>
        </p:nvSpPr>
        <p:spPr>
          <a:xfrm>
            <a:off x="502920" y="5029200"/>
            <a:ext cx="11155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85800" y="51937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71" name="Text 68"/>
          <p:cNvSpPr/>
          <p:nvPr/>
        </p:nvSpPr>
        <p:spPr>
          <a:xfrm>
            <a:off x="1554480" y="5138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sell</a:t>
            </a:r>
            <a:endParaRPr lang="en-US" sz="1800" dirty="0"/>
          </a:p>
        </p:txBody>
      </p:sp>
      <p:sp>
        <p:nvSpPr>
          <p:cNvPr id="72" name="Text 69"/>
          <p:cNvSpPr/>
          <p:nvPr/>
        </p:nvSpPr>
        <p:spPr>
          <a:xfrm>
            <a:off x="1554480" y="543153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Discovery, language, checklist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4" name="Text 71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5" name="Text 72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COMPANY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We’re building the systems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modern businesses.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2148840"/>
            <a:ext cx="1463040" cy="3200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23774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 Web Systems is a technology partner. We build Business Operating Systems, custom applications, and premium web experiences.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 don’t need more tools. They need better systems.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502920" y="4160520"/>
            <a:ext cx="2743200" cy="132588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67512" y="4297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67512" y="4617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November 2025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3383280" y="4160520"/>
            <a:ext cx="2743200" cy="132588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547872" y="4297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3547872" y="4617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CREATE. CONNECT. CONVERT.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6263640" y="4160520"/>
            <a:ext cx="2743200" cy="132588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428232" y="4297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6428232" y="4617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Mon–Fri 09:00–17:00 SAST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9144000" y="4160520"/>
            <a:ext cx="2743200" cy="132588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308592" y="4297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308592" y="4617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onyxwebsystems@gmail.com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7" name="Text 64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COMPANY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brothers. One vision.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pic>
        <p:nvPicPr>
          <p:cNvPr id="53" name="Image 1" descr="C:\Users\simel\OneDrive\Desktop\Onyxwebsystems Websites\Onyxwebsystems-website\public\about\sihle-simela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2331720" cy="2926080"/>
          </a:xfrm>
          <a:prstGeom prst="rect">
            <a:avLst/>
          </a:prstGeom>
        </p:spPr>
      </p:pic>
      <p:pic>
        <p:nvPicPr>
          <p:cNvPr id="54" name="Image 2" descr="C:\Users\simel\OneDrive\Desktop\Onyxwebsystems Websites\Onyxwebsystems-website\public\about\lihle-simela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554480"/>
            <a:ext cx="2331720" cy="2926080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502920" y="4553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Sihle Nathi Simelane</a:t>
            </a:r>
            <a:endParaRPr lang="en-US" sz="1200" dirty="0"/>
          </a:p>
        </p:txBody>
      </p:sp>
      <p:sp>
        <p:nvSpPr>
          <p:cNvPr id="56" name="Text 51"/>
          <p:cNvSpPr/>
          <p:nvPr/>
        </p:nvSpPr>
        <p:spPr>
          <a:xfrm>
            <a:off x="502920" y="47914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 ·  builds the technology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3017520" y="45537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Lihle Simelane</a:t>
            </a:r>
            <a:endParaRPr lang="en-US" sz="1200" dirty="0"/>
          </a:p>
        </p:txBody>
      </p:sp>
      <p:sp>
        <p:nvSpPr>
          <p:cNvPr id="58" name="Text 53"/>
          <p:cNvSpPr/>
          <p:nvPr/>
        </p:nvSpPr>
        <p:spPr>
          <a:xfrm>
            <a:off x="3017520" y="47914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Partnerships</a:t>
            </a:r>
            <a:endParaRPr lang="en-US" sz="1100" dirty="0"/>
          </a:p>
        </p:txBody>
      </p:sp>
      <p:sp>
        <p:nvSpPr>
          <p:cNvPr id="59" name="Text 54"/>
          <p:cNvSpPr/>
          <p:nvPr/>
        </p:nvSpPr>
        <p:spPr>
          <a:xfrm>
            <a:off x="5669280" y="15544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Sihle founded Onyx while studying Computer Science at Emeris. The company started with websites, then expanded into systems that connect operations, automate repetitive work, and help businesses grow.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Lihle joined to grow the business — relationships, client needs, partnerships.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“Don’t just build what a business needs today. Build what it needs to become tomorrow.”</a:t>
            </a:r>
            <a:endParaRPr lang="en-US" sz="1500" dirty="0"/>
          </a:p>
        </p:txBody>
      </p:sp>
      <p:sp>
        <p:nvSpPr>
          <p:cNvPr id="60" name="Shape 55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1" name="Text 56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62" name="Text 57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PHILOSOPHY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CREATE. CONNECT. CONVERT.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60020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58952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CREATE.</a:t>
            </a:r>
            <a:endParaRPr lang="en-US" sz="2000" dirty="0"/>
          </a:p>
        </p:txBody>
      </p:sp>
      <p:sp>
        <p:nvSpPr>
          <p:cNvPr id="55" name="Text 52"/>
          <p:cNvSpPr/>
          <p:nvPr/>
        </p:nvSpPr>
        <p:spPr>
          <a:xfrm>
            <a:off x="758952" y="2468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digital experiences, applications, and systems that solve real business problems.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4297680" y="1600200"/>
            <a:ext cx="3611880" cy="3200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553712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CONNECT.</a:t>
            </a:r>
            <a:endParaRPr lang="en-US" sz="2000" dirty="0"/>
          </a:p>
        </p:txBody>
      </p:sp>
      <p:sp>
        <p:nvSpPr>
          <p:cNvPr id="58" name="Text 55"/>
          <p:cNvSpPr/>
          <p:nvPr/>
        </p:nvSpPr>
        <p:spPr>
          <a:xfrm>
            <a:off x="4553712" y="2468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connect people, processes, data, and technology so the different parts of a business can work together.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8092440" y="160020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348472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CONVERT.</a:t>
            </a:r>
            <a:endParaRPr lang="en-US" sz="2000" dirty="0"/>
          </a:p>
        </p:txBody>
      </p:sp>
      <p:sp>
        <p:nvSpPr>
          <p:cNvPr id="61" name="Text 58"/>
          <p:cNvSpPr/>
          <p:nvPr/>
        </p:nvSpPr>
        <p:spPr>
          <a:xfrm>
            <a:off x="8348472" y="24688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complexity into efficiency, opportunities into customers, and systems into growth.</a:t>
            </a:r>
            <a:endParaRPr lang="en-US" sz="1500" dirty="0"/>
          </a:p>
        </p:txBody>
      </p:sp>
      <p:sp>
        <p:nvSpPr>
          <p:cNvPr id="62" name="Text 59"/>
          <p:cNvSpPr/>
          <p:nvPr/>
        </p:nvSpPr>
        <p:spPr>
          <a:xfrm>
            <a:off x="502920" y="5029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Onyx standard: Simple  ·  Intelligent  ·  Connected  ·  Scalable  ·  Human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502920" y="53949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should empower people, not remove judgment where it matters.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5" name="Text 62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HOW WE THINK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don’t start with technology.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with the business. If you cannot answer these, you are not ready to quote.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02920" y="2011680"/>
            <a:ext cx="5623560" cy="82296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31520" y="22402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leads enter?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309360" y="2011680"/>
            <a:ext cx="5623560" cy="82296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537960" y="22402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customers managed?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502920" y="2971800"/>
            <a:ext cx="5623560" cy="82296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31520" y="32004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time being wasted?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309360" y="2971800"/>
            <a:ext cx="5623560" cy="82296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537960" y="32004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tasks are repetitive?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502920" y="3931920"/>
            <a:ext cx="5623560" cy="82296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31520" y="41605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teams losing information?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6309360" y="3931920"/>
            <a:ext cx="5623560" cy="82296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537960" y="41605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systems are disconnected?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502920" y="4892040"/>
            <a:ext cx="5623560" cy="82296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31520" y="51206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be automated?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6309360" y="4892040"/>
            <a:ext cx="5623560" cy="82296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537960" y="51206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be improved?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1" name="Text 68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WHAT WE SELL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we work with you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554480"/>
            <a:ext cx="11155680" cy="132588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1520" y="1874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5" name="Text 52"/>
          <p:cNvSpPr/>
          <p:nvPr/>
        </p:nvSpPr>
        <p:spPr>
          <a:xfrm>
            <a:off x="1920240" y="175564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Operating Systems</a:t>
            </a:r>
            <a:endParaRPr lang="en-US" sz="2000" dirty="0"/>
          </a:p>
        </p:txBody>
      </p:sp>
      <p:sp>
        <p:nvSpPr>
          <p:cNvPr id="56" name="Text 53"/>
          <p:cNvSpPr/>
          <p:nvPr/>
        </p:nvSpPr>
        <p:spPr>
          <a:xfrm>
            <a:off x="1920240" y="21945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modules that run sales, customers, finance, people, operations, and reporting as one system.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502920" y="3017520"/>
            <a:ext cx="11155680" cy="132588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31520" y="33375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59" name="Text 56"/>
          <p:cNvSpPr/>
          <p:nvPr/>
        </p:nvSpPr>
        <p:spPr>
          <a:xfrm>
            <a:off x="1920240" y="32186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2000" dirty="0"/>
          </a:p>
        </p:txBody>
      </p:sp>
      <p:sp>
        <p:nvSpPr>
          <p:cNvPr id="60" name="Text 57"/>
          <p:cNvSpPr/>
          <p:nvPr/>
        </p:nvSpPr>
        <p:spPr>
          <a:xfrm>
            <a:off x="1920240" y="36576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sites that carry a brand and convert. Proof: Thrift Rotate and about.secnightlife.com.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502920" y="4480560"/>
            <a:ext cx="11155680" cy="132588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31520" y="4800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63" name="Text 60"/>
          <p:cNvSpPr/>
          <p:nvPr/>
        </p:nvSpPr>
        <p:spPr>
          <a:xfrm>
            <a:off x="1920240" y="468172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64" name="Text 61"/>
          <p:cNvSpPr/>
          <p:nvPr/>
        </p:nvSpPr>
        <p:spPr>
          <a:xfrm>
            <a:off x="1920240" y="51206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web and mobile software around how they actually operate. Proof: SEC Nightlife.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6" name="Text 63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WHAT WE SELL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 is not “sell a website.”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where people, time, and money are leaking. Sell the system that replaces that leak.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502920" y="2240280"/>
            <a:ext cx="2743200" cy="16916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67512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667512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67512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business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3383280" y="2240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547872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3547872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3547872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opportunities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6263640" y="2240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428232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6428232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6428232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workflows and tech</a:t>
            </a:r>
            <a:endParaRPr lang="en-US" sz="1300" dirty="0"/>
          </a:p>
        </p:txBody>
      </p:sp>
      <p:sp>
        <p:nvSpPr>
          <p:cNvPr id="66" name="Shape 63"/>
          <p:cNvSpPr/>
          <p:nvPr/>
        </p:nvSpPr>
        <p:spPr>
          <a:xfrm>
            <a:off x="9144000" y="2240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308592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9308592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9308592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experience</a:t>
            </a:r>
            <a:endParaRPr lang="en-US" sz="1300" dirty="0"/>
          </a:p>
        </p:txBody>
      </p:sp>
      <p:sp>
        <p:nvSpPr>
          <p:cNvPr id="70" name="Shape 67"/>
          <p:cNvSpPr/>
          <p:nvPr/>
        </p:nvSpPr>
        <p:spPr>
          <a:xfrm>
            <a:off x="502920" y="4114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67512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667512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667512" y="5120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system</a:t>
            </a:r>
            <a:endParaRPr lang="en-US" sz="1300" dirty="0"/>
          </a:p>
        </p:txBody>
      </p:sp>
      <p:sp>
        <p:nvSpPr>
          <p:cNvPr id="74" name="Shape 71"/>
          <p:cNvSpPr/>
          <p:nvPr/>
        </p:nvSpPr>
        <p:spPr>
          <a:xfrm>
            <a:off x="3383280" y="4114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3547872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6" name="Text 73"/>
          <p:cNvSpPr/>
          <p:nvPr/>
        </p:nvSpPr>
        <p:spPr>
          <a:xfrm>
            <a:off x="3547872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3547872" y="5120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real workflows</a:t>
            </a:r>
            <a:endParaRPr lang="en-US" sz="1300" dirty="0"/>
          </a:p>
        </p:txBody>
      </p:sp>
      <p:sp>
        <p:nvSpPr>
          <p:cNvPr id="78" name="Shape 75"/>
          <p:cNvSpPr/>
          <p:nvPr/>
        </p:nvSpPr>
        <p:spPr>
          <a:xfrm>
            <a:off x="6263640" y="4114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428232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80" name="Text 77"/>
          <p:cNvSpPr/>
          <p:nvPr/>
        </p:nvSpPr>
        <p:spPr>
          <a:xfrm>
            <a:off x="6428232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600" dirty="0"/>
          </a:p>
        </p:txBody>
      </p:sp>
      <p:sp>
        <p:nvSpPr>
          <p:cNvPr id="81" name="Text 78"/>
          <p:cNvSpPr/>
          <p:nvPr/>
        </p:nvSpPr>
        <p:spPr>
          <a:xfrm>
            <a:off x="6428232" y="5120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300" dirty="0"/>
          </a:p>
        </p:txBody>
      </p:sp>
      <p:sp>
        <p:nvSpPr>
          <p:cNvPr id="82" name="Shape 79"/>
          <p:cNvSpPr/>
          <p:nvPr/>
        </p:nvSpPr>
        <p:spPr>
          <a:xfrm>
            <a:off x="9144000" y="4114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308592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84" name="Text 81"/>
          <p:cNvSpPr/>
          <p:nvPr/>
        </p:nvSpPr>
        <p:spPr>
          <a:xfrm>
            <a:off x="9308592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85" name="Text 82"/>
          <p:cNvSpPr/>
          <p:nvPr/>
        </p:nvSpPr>
        <p:spPr>
          <a:xfrm>
            <a:off x="9308592" y="5120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improving</a:t>
            </a:r>
            <a:endParaRPr lang="en-US" sz="1300" dirty="0"/>
          </a:p>
        </p:txBody>
      </p:sp>
      <p:sp>
        <p:nvSpPr>
          <p:cNvPr id="86" name="Shape 83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7" name="Text 84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88" name="Text 85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" y="1965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20" kern="0" dirty="0">
                <a:solidFill>
                  <a:srgbClr val="A3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PRICING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2920" y="233172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numbers.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one.</a:t>
            </a:r>
            <a:endParaRPr lang="en-US" sz="4800" dirty="0"/>
          </a:p>
        </p:txBody>
      </p:sp>
      <p:sp>
        <p:nvSpPr>
          <p:cNvPr id="49" name="Text 47"/>
          <p:cNvSpPr/>
          <p:nvPr/>
        </p:nvSpPr>
        <p:spPr>
          <a:xfrm>
            <a:off x="502920" y="4297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13% module fee. Then a monthly retainer sized to the project.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A3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PRICING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BOS deal has two layers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600200"/>
            <a:ext cx="5486400" cy="41148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4" name="Text 51"/>
          <p:cNvSpPr/>
          <p:nvPr/>
        </p:nvSpPr>
        <p:spPr>
          <a:xfrm>
            <a:off x="77724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777240" y="2240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fee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3600" dirty="0"/>
          </a:p>
        </p:txBody>
      </p:sp>
      <p:sp>
        <p:nvSpPr>
          <p:cNvPr id="56" name="Text 53"/>
          <p:cNvSpPr/>
          <p:nvPr/>
        </p:nvSpPr>
        <p:spPr>
          <a:xfrm>
            <a:off x="777240" y="37033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to put that function into the operating system.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of what that role would cost as an employee for one year.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6172200" y="1600200"/>
            <a:ext cx="5486400" cy="4114800"/>
          </a:xfrm>
          <a:prstGeom prst="rect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44652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6446520" y="2240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</a:t>
            </a:r>
            <a:endParaRPr lang="en-US" sz="3600" dirty="0"/>
          </a:p>
        </p:txBody>
      </p:sp>
      <p:sp>
        <p:nvSpPr>
          <p:cNvPr id="60" name="Text 57"/>
          <p:cNvSpPr/>
          <p:nvPr/>
        </p:nvSpPr>
        <p:spPr>
          <a:xfrm>
            <a:off x="6446520" y="37033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run, improve, support, keep it alive.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from how big the project is — not a flat fee, and not 13% again.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2" name="Text 59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THE 13% FEE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the module against the human.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Name the job the module is doing.</a:t>
            </a:r>
            <a:endParaRPr lang="en-US" sz="1800" dirty="0"/>
          </a:p>
        </p:txBody>
      </p:sp>
      <p:sp>
        <p:nvSpPr>
          <p:cNvPr id="54" name="Text 51"/>
          <p:cNvSpPr/>
          <p:nvPr/>
        </p:nvSpPr>
        <p:spPr>
          <a:xfrm>
            <a:off x="502920" y="19659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Get the annual salary for that seat.</a:t>
            </a:r>
            <a:endParaRPr lang="en-US" sz="1800" dirty="0"/>
          </a:p>
        </p:txBody>
      </p:sp>
      <p:sp>
        <p:nvSpPr>
          <p:cNvPr id="55" name="Text 52"/>
          <p:cNvSpPr/>
          <p:nvPr/>
        </p:nvSpPr>
        <p:spPr>
          <a:xfrm>
            <a:off x="502920" y="2377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Charge 13% of that annual amount.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502920" y="2926080"/>
            <a:ext cx="11155680" cy="105156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31520" y="32004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 =  annual salary of that role  ×  0.13</a:t>
            </a:r>
            <a:endParaRPr lang="en-US" sz="2400" dirty="0"/>
          </a:p>
        </p:txBody>
      </p:sp>
      <p:sp>
        <p:nvSpPr>
          <p:cNvPr id="58" name="Shape 55"/>
          <p:cNvSpPr/>
          <p:nvPr/>
        </p:nvSpPr>
        <p:spPr>
          <a:xfrm>
            <a:off x="502920" y="4160520"/>
            <a:ext cx="5486400" cy="155448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31520" y="4297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MODULE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731520" y="4663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R240,000 × 0.13  =  R31,200</a:t>
            </a:r>
            <a:endParaRPr lang="en-US" sz="2000" dirty="0"/>
          </a:p>
        </p:txBody>
      </p:sp>
      <p:sp>
        <p:nvSpPr>
          <p:cNvPr id="61" name="Shape 58"/>
          <p:cNvSpPr/>
          <p:nvPr/>
        </p:nvSpPr>
        <p:spPr>
          <a:xfrm>
            <a:off x="6172200" y="4160520"/>
            <a:ext cx="5486400" cy="155448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400800" y="4297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MODULE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6400800" y="4663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R180,000 × 0.13  =  R23,400</a:t>
            </a:r>
            <a:endParaRPr lang="en-US" sz="2000" dirty="0"/>
          </a:p>
        </p:txBody>
      </p:sp>
      <p:sp>
        <p:nvSpPr>
          <p:cNvPr id="64" name="Shape 61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5" name="Text 62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THE 13% FEE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say it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600200"/>
            <a:ext cx="11155680" cy="23774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4" name="Text 51"/>
          <p:cNvSpPr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“Instead of hiring another person to run this all year, we put that function in the system. The module fee is 13% of what that seat would cost you annually. Then there is a monthly retainer to keep it running, sized to the size of the build.”</a:t>
            </a:r>
            <a:endParaRPr lang="en-US" sz="2000" dirty="0"/>
          </a:p>
        </p:txBody>
      </p:sp>
      <p:sp>
        <p:nvSpPr>
          <p:cNvPr id="55" name="Shape 52"/>
          <p:cNvSpPr/>
          <p:nvPr/>
        </p:nvSpPr>
        <p:spPr>
          <a:xfrm>
            <a:off x="502920" y="4160520"/>
            <a:ext cx="5486400" cy="155448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3152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MODULES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731520" y="4663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13% per module, then add. A full OS is a stack, not a mystery lump sum.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6172200" y="4160520"/>
            <a:ext cx="5486400" cy="155448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0080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LINE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6400800" y="4663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Solutions. Custom Pricing. Do not publish 13% on the website, ads, or social.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2" name="Text 59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MONTHLY RETAINER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Sized to how big the project is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1463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retainer is not 13% again. It is not the same for every client. Score size first — then the monthly follows.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55680" cy="3291840"/>
        </p:xfrm>
        <a:graphic>
          <a:graphicData uri="http://schemas.openxmlformats.org/drawingml/2006/table">
            <a:tbl>
              <a:tblPr/>
              <a:tblGrid>
                <a:gridCol w="2194560"/>
                <a:gridCol w="4114800"/>
                <a:gridCol w="48463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module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Several connected modules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1–10 people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11–50 / 51–200 / 200+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form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Phone, WhatsApp, IG, Facebook, email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simple path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Approvals, payments, multi-location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module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agents and specialised systems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5" name="Shape 51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6" name="Text 52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MONTHLY RETAINER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retainer pays for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508760"/>
            <a:ext cx="109728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4" name="Text 51"/>
          <p:cNvSpPr/>
          <p:nvPr/>
        </p:nvSpPr>
        <p:spPr>
          <a:xfrm>
            <a:off x="822960" y="1508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the system live</a:t>
            </a:r>
            <a:endParaRPr lang="en-US" sz="1800" dirty="0"/>
          </a:p>
        </p:txBody>
      </p:sp>
      <p:sp>
        <p:nvSpPr>
          <p:cNvPr id="55" name="Shape 52"/>
          <p:cNvSpPr/>
          <p:nvPr/>
        </p:nvSpPr>
        <p:spPr>
          <a:xfrm>
            <a:off x="502920" y="2148840"/>
            <a:ext cx="109728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6" name="Text 53"/>
          <p:cNvSpPr/>
          <p:nvPr/>
        </p:nvSpPr>
        <p:spPr>
          <a:xfrm>
            <a:off x="822960" y="21488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workflows as the business changes</a:t>
            </a:r>
            <a:endParaRPr lang="en-US" sz="1800" dirty="0"/>
          </a:p>
        </p:txBody>
      </p:sp>
      <p:sp>
        <p:nvSpPr>
          <p:cNvPr id="57" name="Shape 54"/>
          <p:cNvSpPr/>
          <p:nvPr/>
        </p:nvSpPr>
        <p:spPr>
          <a:xfrm>
            <a:off x="502920" y="2788920"/>
            <a:ext cx="109728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8" name="Text 55"/>
          <p:cNvSpPr/>
          <p:nvPr/>
        </p:nvSpPr>
        <p:spPr>
          <a:xfrm>
            <a:off x="822960" y="2788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when staff get stuck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502920" y="3429000"/>
            <a:ext cx="109728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0" name="Text 57"/>
          <p:cNvSpPr/>
          <p:nvPr/>
        </p:nvSpPr>
        <p:spPr>
          <a:xfrm>
            <a:off x="822960" y="3429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monitoring (WhatsApp, web, Instagram…)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502920" y="4069080"/>
            <a:ext cx="109728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2" name="Text 59"/>
          <p:cNvSpPr/>
          <p:nvPr/>
        </p:nvSpPr>
        <p:spPr>
          <a:xfrm>
            <a:off x="822960" y="40690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updates and small scope that is not a new module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502920" y="4709160"/>
            <a:ext cx="109728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4" name="Text 61"/>
          <p:cNvSpPr/>
          <p:nvPr/>
        </p:nvSpPr>
        <p:spPr>
          <a:xfrm>
            <a:off x="822960" y="4709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the client actually uses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6" name="Text 63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MONTHLY RETAINER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bands — then confirm the number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600200"/>
            <a:ext cx="361188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1520" y="1874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731520" y="23317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module · small team · one channel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731520" y="3840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monthly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4297680" y="1600200"/>
            <a:ext cx="3611880" cy="3063240"/>
          </a:xfrm>
          <a:prstGeom prst="rect">
            <a:avLst/>
          </a:prstGeom>
          <a:solidFill>
            <a:srgbClr val="0A0A0A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526280" y="1874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4526280" y="23317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modules · 11–50 staff · WhatsApp + web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526280" y="3840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monthly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092440" y="1600200"/>
            <a:ext cx="361188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321040" y="1874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8321040" y="23317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OS · many locations · many channels · custom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8321040" y="3840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monthly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502920" y="4892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leadership gives exact retainer bands, size the project correctly. Do not invent a rand amount on the call.</a:t>
            </a:r>
            <a:endParaRPr lang="en-US" sz="1500" dirty="0"/>
          </a:p>
        </p:txBody>
      </p:sp>
      <p:sp>
        <p:nvSpPr>
          <p:cNvPr id="66" name="Shape 63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7" name="Text 64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PRICING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 and apps are different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600200"/>
            <a:ext cx="5486400" cy="4023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4" name="Text 51"/>
          <p:cNvSpPr/>
          <p:nvPr/>
        </p:nvSpPr>
        <p:spPr>
          <a:xfrm>
            <a:off x="77724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 MODULES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77724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+ retainer</a:t>
            </a:r>
            <a:endParaRPr lang="en-US" sz="2800" dirty="0"/>
          </a:p>
        </p:txBody>
      </p:sp>
      <p:sp>
        <p:nvSpPr>
          <p:cNvPr id="56" name="Text 53"/>
          <p:cNvSpPr/>
          <p:nvPr/>
        </p:nvSpPr>
        <p:spPr>
          <a:xfrm>
            <a:off x="777240" y="31089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D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employee-salary method. One 13% per module. Retainer from project size.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172200" y="1600200"/>
            <a:ext cx="5486400" cy="4023360"/>
          </a:xfrm>
          <a:prstGeom prst="rect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44652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 ·  APP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644652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then quote</a:t>
            </a:r>
            <a:endParaRPr lang="en-US" sz="2800" dirty="0"/>
          </a:p>
        </p:txBody>
      </p:sp>
      <p:sp>
        <p:nvSpPr>
          <p:cNvPr id="60" name="Text 57"/>
          <p:cNvSpPr/>
          <p:nvPr/>
        </p:nvSpPr>
        <p:spPr>
          <a:xfrm>
            <a:off x="6446520" y="31089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apply 13% of a designer’s salary to a brochure site unless leadership says so. Budget ranges on the site are signals, not published fees.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2" name="Text 59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GUARDRAILS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do this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50876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152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13% and forget the retainer — or a retainer with no module fee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502920" y="2240280"/>
            <a:ext cx="1115568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31520" y="2240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same monthly for a one-module shop and a full operating system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502920" y="297180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31520" y="29718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13% or retainers on the website, ads, or social captions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502920" y="3703320"/>
            <a:ext cx="1115568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31520" y="3703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 discounts, timelines, features, or website/app prices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502920" y="4434840"/>
            <a:ext cx="11155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31520" y="4434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front desk or AI invent numbers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502920" y="5166360"/>
            <a:ext cx="1115568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31520" y="51663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before you know the job the module replaces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6" name="Text 63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" y="1965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20" kern="0" dirty="0">
                <a:solidFill>
                  <a:srgbClr val="A3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MODULES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2920" y="233172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business.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connected system.</a:t>
            </a:r>
            <a:endParaRPr lang="en-US" sz="4400" dirty="0"/>
          </a:p>
        </p:txBody>
      </p:sp>
      <p:sp>
        <p:nvSpPr>
          <p:cNvPr id="49" name="Text 47"/>
          <p:cNvSpPr/>
          <p:nvPr/>
        </p:nvSpPr>
        <p:spPr>
          <a:xfrm>
            <a:off x="502920" y="4297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name the job it replaces, what is inside, and how work flows.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A3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ONYX OS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modules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50876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85800" y="1673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1417320" y="16367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417320" y="1984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Capture, qualify, CRM, follow-ups, appointments, pipeline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02920" y="260604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85800" y="2770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417320" y="27340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1417320" y="3081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Communication, support, onboarding, feedback, workflows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502920" y="370332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85800" y="3867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1417320" y="38313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1417320" y="4178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Invoices, payments, approvals, financial workflows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502920" y="480060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85800" y="4965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1417320" y="49286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1417320" y="5276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Recruitment, onboarding, employee workflows, documents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6309360" y="150876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492240" y="1673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7223760" y="16367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Operations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7223760" y="1984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Tasks, scheduling, documents, internal admin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6309360" y="260604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492240" y="2770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7223760" y="27340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7223760" y="3081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Dashboards, KPIs, reports, performance</a:t>
            </a:r>
            <a:endParaRPr lang="en-US" sz="1200" dirty="0"/>
          </a:p>
        </p:txBody>
      </p:sp>
      <p:sp>
        <p:nvSpPr>
          <p:cNvPr id="77" name="Shape 74"/>
          <p:cNvSpPr/>
          <p:nvPr/>
        </p:nvSpPr>
        <p:spPr>
          <a:xfrm>
            <a:off x="6309360" y="370332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492240" y="3867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7223760" y="38313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600" dirty="0"/>
          </a:p>
        </p:txBody>
      </p:sp>
      <p:sp>
        <p:nvSpPr>
          <p:cNvPr id="80" name="Text 77"/>
          <p:cNvSpPr/>
          <p:nvPr/>
        </p:nvSpPr>
        <p:spPr>
          <a:xfrm>
            <a:off x="7223760" y="4178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workflows, AI agents, integrations</a:t>
            </a:r>
            <a:endParaRPr lang="en-US" sz="1200" dirty="0"/>
          </a:p>
        </p:txBody>
      </p:sp>
      <p:sp>
        <p:nvSpPr>
          <p:cNvPr id="81" name="Shape 78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2" name="Text 79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83" name="Text 80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MODULE 01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1417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more opportunities into revenue.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02920" y="1874520"/>
            <a:ext cx="1115568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5800" y="19933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job:  salesperson, sales admin, or junior closer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50292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408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capture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70408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Web, WhatsApp, Instagram, Facebook, forms — one place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630936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51052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651052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Need, budget signal, timeline, team size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50292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0408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70408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history, notes, stage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630936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51052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Follow-ups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651052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and human so leads do not go cold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50292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0408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70408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the meeting from the same thread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630936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51052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651052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contact to closed — what is moving, what is stuck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 Who follows up leads today, and what would that person cost for the year?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6" name="Text 73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MODULE 01  ·  SALES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Sales works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1143000" y="1965960"/>
            <a:ext cx="256032" cy="256032"/>
          </a:xfrm>
          <a:prstGeom prst="oval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463040" y="2066544"/>
            <a:ext cx="155448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50292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3081528" y="1965960"/>
            <a:ext cx="256032" cy="256032"/>
          </a:xfrm>
          <a:prstGeom prst="oval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401568" y="2066544"/>
            <a:ext cx="155448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9" name="Text 56"/>
          <p:cNvSpPr/>
          <p:nvPr/>
        </p:nvSpPr>
        <p:spPr>
          <a:xfrm>
            <a:off x="2441448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2441448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5020056" y="1965960"/>
            <a:ext cx="256032" cy="256032"/>
          </a:xfrm>
          <a:prstGeom prst="oval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340096" y="2066544"/>
            <a:ext cx="155448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3" name="Text 60"/>
          <p:cNvSpPr/>
          <p:nvPr/>
        </p:nvSpPr>
        <p:spPr>
          <a:xfrm>
            <a:off x="4379976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4379976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6958584" y="1965960"/>
            <a:ext cx="256032" cy="256032"/>
          </a:xfrm>
          <a:prstGeom prst="oval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278624" y="2066544"/>
            <a:ext cx="155448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7" name="Text 64"/>
          <p:cNvSpPr/>
          <p:nvPr/>
        </p:nvSpPr>
        <p:spPr>
          <a:xfrm>
            <a:off x="6318504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6318504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8897112" y="1965960"/>
            <a:ext cx="256032" cy="256032"/>
          </a:xfrm>
          <a:prstGeom prst="oval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9217152" y="2066544"/>
            <a:ext cx="155448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1" name="Text 68"/>
          <p:cNvSpPr/>
          <p:nvPr/>
        </p:nvSpPr>
        <p:spPr>
          <a:xfrm>
            <a:off x="8257032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8257032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10835640" y="1965960"/>
            <a:ext cx="256032" cy="256032"/>
          </a:xfrm>
          <a:prstGeom prst="oval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019556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1019556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502920" y="3657600"/>
            <a:ext cx="11155680" cy="201168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77240" y="3886200"/>
            <a:ext cx="1060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tick Lead Management &amp; Speed-to-Lead, Follow-Ups, or Sales &amp; CRM on the booking form — that is this module.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Speed-to-lead is the promise: the business answers fast, in one system, not three hours later on someone’s WhatsApp.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9" name="Text 76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MODULE 02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1417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front desk — how the business talks to people.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02920" y="1874520"/>
            <a:ext cx="1115568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5800" y="19933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job:  receptionist, front-desk admin, or all-day customer-service seat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50292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408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70408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inbox: web, WhatsApp, SMS, voice, Instagram, Facebook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630936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51052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651052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knowledge; misses become tickets + human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50292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0408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70408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Identify, create the record, next step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630936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51052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651052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customers said — not what staff remember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50292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0408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70408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Greet, hours, book, reschedule, remind, escalate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630936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51052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hours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651052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captures the lead and books the next slot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 Who answers customers all day, on which channels, and what does that seat cost per year?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6" name="Text 73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MODULE 02  ·  CUSTOMER EXPERIENCE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live Onyx product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1463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demo CX, you are showing Conversations, Calendar, Customers, Appointments, Tickets, Knowledge, and Live Activity.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02920" y="2194560"/>
            <a:ext cx="64008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2194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1371600" y="21945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messages or calls</a:t>
            </a:r>
            <a:endParaRPr lang="en-US" sz="1800" dirty="0"/>
          </a:p>
        </p:txBody>
      </p:sp>
      <p:sp>
        <p:nvSpPr>
          <p:cNvPr id="57" name="Shape 54"/>
          <p:cNvSpPr/>
          <p:nvPr/>
        </p:nvSpPr>
        <p:spPr>
          <a:xfrm>
            <a:off x="502920" y="2926080"/>
            <a:ext cx="64008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2926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9" name="Text 56"/>
          <p:cNvSpPr/>
          <p:nvPr/>
        </p:nvSpPr>
        <p:spPr>
          <a:xfrm>
            <a:off x="1371600" y="29260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identifies them — or creates them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502920" y="3657600"/>
            <a:ext cx="64008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1" name="Text 58"/>
          <p:cNvSpPr/>
          <p:nvPr/>
        </p:nvSpPr>
        <p:spPr>
          <a:xfrm>
            <a:off x="502920" y="36576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1371600" y="36576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from knowledge, books, or captures the request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502920" y="4389120"/>
            <a:ext cx="64008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4" name="Text 61"/>
          <p:cNvSpPr/>
          <p:nvPr/>
        </p:nvSpPr>
        <p:spPr>
          <a:xfrm>
            <a:off x="502920" y="4389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65" name="Text 62"/>
          <p:cNvSpPr/>
          <p:nvPr/>
        </p:nvSpPr>
        <p:spPr>
          <a:xfrm>
            <a:off x="1371600" y="43891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Angry / legal / billing / safety / “a person” → handoff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502920" y="5120640"/>
            <a:ext cx="64008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7" name="Text 64"/>
          <p:cNvSpPr/>
          <p:nvPr/>
        </p:nvSpPr>
        <p:spPr>
          <a:xfrm>
            <a:off x="502920" y="5120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68" name="Text 65"/>
          <p:cNvSpPr/>
          <p:nvPr/>
        </p:nvSpPr>
        <p:spPr>
          <a:xfrm>
            <a:off x="1371600" y="51206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see the same thread. They do not start from zero.</a:t>
            </a:r>
            <a:endParaRPr lang="en-US" sz="1800" dirty="0"/>
          </a:p>
        </p:txBody>
      </p:sp>
      <p:sp>
        <p:nvSpPr>
          <p:cNvPr id="69" name="Shape 66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0" name="Text 67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MODULE 03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1417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in, money out, approvals, and a clean trail.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02920" y="1874520"/>
            <a:ext cx="1115568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5800" y="19933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job:  bookkeeper, finance admin, or the owner invoicing at midnight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50292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408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70408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send, paid vs overdue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630936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51052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651052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 to the customer and the job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50292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0408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70408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Spend, discount, refund, payout — a path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630936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51052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651052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→ invoice → payment → receipt → reminder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50292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0408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70408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In, outstanding, stuck in approval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630936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51052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651052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the same customer record as Sales / CX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 Who chases invoices and payments today? What would that person cost for a year?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6" name="Text 73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MODULE 04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1417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in, people through, documents and internal processes.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02920" y="1874520"/>
            <a:ext cx="1115568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5800" y="19933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job:  HR admin, office manager, or whoever onboards staff on WhatsApp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50292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408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70408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Applications, screening, interviews, status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630936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51052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651052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Documents, access, how the company works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50292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0408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workflows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70408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Leave, role changes, repeat HR tasks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630936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51052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651052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Contracts, IDs, policies on the person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50292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0408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processes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70408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company’s rules — not generic HR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630936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51052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651052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→ stages → hire → onboarding → employee record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 Who runs hiring and staff paperwork, and what is that annual salary?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6" name="Text 73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MODULE 05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Operations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1417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running of the office — work that lives in the owner’s head.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02920" y="1874520"/>
            <a:ext cx="1115568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5800" y="19933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job:  office admin, operations coordinator, or PA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50292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408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70408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Assigned, tracked, closed — not a forgetful group chat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630936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51052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651052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who / where / due (customer bookings sit in CX)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50292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0408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70408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SOPs and files the office needs every day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630936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51052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workflows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651052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X happens, do Y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50292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0408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processes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70408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work that still eats a salary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630936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51052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labels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651052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Operations, Internal Comms, Document / Data Processing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 If you hired an office admin for a year, what would you pay them?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6" name="Text 73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MODULE 06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Analytics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1417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business. Don’t guess.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02920" y="1874520"/>
            <a:ext cx="1115568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5800" y="19933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job:  analyst, ops spreadsheet owner, or Sunday CSV exports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50292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408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70408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 of whatever modules they bought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630936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51052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651052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Speed-to-lead, show-up, conversion, outstanding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50292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0408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70408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/ monthly packs leadership can use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630936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51052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651052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Channels, staff, modules that are working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50292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0408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70408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leads die and time is wasted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630936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51052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651052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sell a dashboard of nothing — it reads other modules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 Who builds the reports today? What would that seat cost per year?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6" name="Text 73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MODULE 07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1417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thing their industry needs that a standard module does not cover.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02920" y="1874520"/>
            <a:ext cx="11155680" cy="640080"/>
          </a:xfrm>
          <a:prstGeom prst="rect">
            <a:avLst/>
          </a:prstGeom>
          <a:solidFill>
            <a:srgbClr val="F7F7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5800" y="19933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job:  specialist seat or the contractor they keep hiring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50292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408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workflows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70408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process — nightlife, HVAC, drop commerce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6309360" y="269748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510528" y="27706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6510528" y="30449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desk, qualifier, follow-up — scoped, not a buzzword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50292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0408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70408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APIs only — WhatsApp, Meta, calendar, payments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6309360" y="356616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510528" y="3639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systems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6510528" y="39136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module named for them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50292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0408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70408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always bigger — unique and still changing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6309360" y="4434840"/>
            <a:ext cx="5623560" cy="77724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510528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labels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6510528" y="4782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Agents / Workflows, Custom module, often Marketing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 Show me the workflow no off-the-shelf tool has got right. Who runs it today?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6" name="Text 73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HOW THEY CONNECT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the system, not a shopping list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600200"/>
            <a:ext cx="3611880" cy="1783080"/>
          </a:xfrm>
          <a:prstGeom prst="rect">
            <a:avLst/>
          </a:prstGeom>
          <a:solidFill>
            <a:srgbClr val="0A0A0A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152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</a:t>
            </a:r>
            <a:endParaRPr lang="en-US" sz="2200" dirty="0"/>
          </a:p>
        </p:txBody>
      </p:sp>
      <p:sp>
        <p:nvSpPr>
          <p:cNvPr id="55" name="Text 52"/>
          <p:cNvSpPr/>
          <p:nvPr/>
        </p:nvSpPr>
        <p:spPr>
          <a:xfrm>
            <a:off x="73152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the person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4297680" y="1600200"/>
            <a:ext cx="36118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52628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452628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the pipeline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8092440" y="1600200"/>
            <a:ext cx="36118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32104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200" dirty="0"/>
          </a:p>
        </p:txBody>
      </p:sp>
      <p:sp>
        <p:nvSpPr>
          <p:cNvPr id="61" name="Text 58"/>
          <p:cNvSpPr/>
          <p:nvPr/>
        </p:nvSpPr>
        <p:spPr>
          <a:xfrm>
            <a:off x="832104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the money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502920" y="3566160"/>
            <a:ext cx="36118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3152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+ HR</a:t>
            </a:r>
            <a:endParaRPr lang="en-US" sz="2200" dirty="0"/>
          </a:p>
        </p:txBody>
      </p:sp>
      <p:sp>
        <p:nvSpPr>
          <p:cNvPr id="64" name="Text 61"/>
          <p:cNvSpPr/>
          <p:nvPr/>
        </p:nvSpPr>
        <p:spPr>
          <a:xfrm>
            <a:off x="731520" y="4480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company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4297680" y="3566160"/>
            <a:ext cx="36118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52628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2200" dirty="0"/>
          </a:p>
        </p:txBody>
      </p:sp>
      <p:sp>
        <p:nvSpPr>
          <p:cNvPr id="67" name="Text 64"/>
          <p:cNvSpPr/>
          <p:nvPr/>
        </p:nvSpPr>
        <p:spPr>
          <a:xfrm>
            <a:off x="4526280" y="4480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if it works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8092440" y="3566160"/>
            <a:ext cx="36118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32104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2200" dirty="0"/>
          </a:p>
        </p:txBody>
      </p:sp>
      <p:sp>
        <p:nvSpPr>
          <p:cNvPr id="70" name="Text 67"/>
          <p:cNvSpPr/>
          <p:nvPr/>
        </p:nvSpPr>
        <p:spPr>
          <a:xfrm>
            <a:off x="8321040" y="4480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industry engine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2" name="Text 69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HOW YOU SELL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script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28016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leads enter?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502920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280160" y="20299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answers, and on which channels?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502920" y="2596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1280160" y="25968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customers managed today?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502920" y="31638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1280160" y="31638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time wasted / what is repetitive?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502920" y="37307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280160" y="37307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modules match that waste?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50292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1280160" y="4297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module: annual salary of that role → 13%.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502920" y="48646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1280160" y="4864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the project: modules × team × channels × custom → retainer.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502920" y="54315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1280160" y="54315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the 30-minute consultation. Proposal after scope.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0" name="Text 67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HOW YOU SELL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motion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508760"/>
            <a:ext cx="777240" cy="7315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4" name="Text 51"/>
          <p:cNvSpPr/>
          <p:nvPr/>
        </p:nvSpPr>
        <p:spPr>
          <a:xfrm>
            <a:off x="502920" y="150876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5" name="Text 52"/>
          <p:cNvSpPr/>
          <p:nvPr/>
        </p:nvSpPr>
        <p:spPr>
          <a:xfrm>
            <a:off x="1508760" y="155448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1508760" y="18745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“Walk me through how a lead becomes a paying customer today.”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502920" y="2377440"/>
            <a:ext cx="777240" cy="7315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2377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59" name="Text 56"/>
          <p:cNvSpPr/>
          <p:nvPr/>
        </p:nvSpPr>
        <p:spPr>
          <a:xfrm>
            <a:off x="1508760" y="24231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expensive human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1508760" y="27432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BOS sale lands on a role.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502920" y="3246120"/>
            <a:ext cx="777240" cy="7315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2" name="Text 59"/>
          <p:cNvSpPr/>
          <p:nvPr/>
        </p:nvSpPr>
        <p:spPr>
          <a:xfrm>
            <a:off x="502920" y="324612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63" name="Text 60"/>
          <p:cNvSpPr/>
          <p:nvPr/>
        </p:nvSpPr>
        <p:spPr>
          <a:xfrm>
            <a:off x="1508760" y="32918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OS</a:t>
            </a:r>
            <a:endParaRPr lang="en-US" sz="1800" dirty="0"/>
          </a:p>
        </p:txBody>
      </p:sp>
      <p:sp>
        <p:nvSpPr>
          <p:cNvPr id="64" name="Text 61"/>
          <p:cNvSpPr/>
          <p:nvPr/>
        </p:nvSpPr>
        <p:spPr>
          <a:xfrm>
            <a:off x="1508760" y="361188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system. Connected modules. Not another app.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502920" y="4114800"/>
            <a:ext cx="777240" cy="7315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6" name="Text 63"/>
          <p:cNvSpPr/>
          <p:nvPr/>
        </p:nvSpPr>
        <p:spPr>
          <a:xfrm>
            <a:off x="502920" y="41148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67" name="Text 64"/>
          <p:cNvSpPr/>
          <p:nvPr/>
        </p:nvSpPr>
        <p:spPr>
          <a:xfrm>
            <a:off x="1508760" y="41605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/book</a:t>
            </a:r>
            <a:endParaRPr lang="en-US" sz="1800" dirty="0"/>
          </a:p>
        </p:txBody>
      </p:sp>
      <p:sp>
        <p:nvSpPr>
          <p:cNvPr id="68" name="Text 65"/>
          <p:cNvSpPr/>
          <p:nvPr/>
        </p:nvSpPr>
        <p:spPr>
          <a:xfrm>
            <a:off x="1508760" y="44805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Lane, modules, timeline, team size, budget signal.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502920" y="4983480"/>
            <a:ext cx="777240" cy="7315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0" name="Text 67"/>
          <p:cNvSpPr/>
          <p:nvPr/>
        </p:nvSpPr>
        <p:spPr>
          <a:xfrm>
            <a:off x="502920" y="498348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71" name="Text 68"/>
          <p:cNvSpPr/>
          <p:nvPr/>
        </p:nvSpPr>
        <p:spPr>
          <a:xfrm>
            <a:off x="1508760" y="50292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after scope</a:t>
            </a:r>
            <a:endParaRPr lang="en-US" sz="1800" dirty="0"/>
          </a:p>
        </p:txBody>
      </p:sp>
      <p:sp>
        <p:nvSpPr>
          <p:cNvPr id="72" name="Text 69"/>
          <p:cNvSpPr/>
          <p:nvPr/>
        </p:nvSpPr>
        <p:spPr>
          <a:xfrm>
            <a:off x="1508760" y="53492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per module + retainer from size. Web/app separate.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4" name="Text 71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5" name="Text 72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HOW YOU SELL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build the systems behind modern businesses.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packages start at…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don’t start with technology. We start with the business.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AI will give you a price.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Businesses don’t need more tools. They need better systems.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Fake discounts, dates, or features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solutions. Custom pricing.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“Just a web design company”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13% of that seat for the year, plus a retainer sized to the project.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Publishing 13% or retainers in ads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4" name="Shape 50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5" name="Text 51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56" name="Text 52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HOW YOU SELL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only when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554480"/>
            <a:ext cx="5623560" cy="91440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04088" y="1847088"/>
            <a:ext cx="329184" cy="329184"/>
          </a:xfrm>
          <a:prstGeom prst="rect">
            <a:avLst/>
          </a:prstGeom>
          <a:noFill/>
          <a:ln w="15875">
            <a:solidFill>
              <a:srgbClr val="0A0A0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188720" y="175564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Module(s) named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6309360" y="1554480"/>
            <a:ext cx="5623560" cy="91440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510528" y="1847088"/>
            <a:ext cx="329184" cy="329184"/>
          </a:xfrm>
          <a:prstGeom prst="rect">
            <a:avLst/>
          </a:prstGeom>
          <a:noFill/>
          <a:ln w="15875">
            <a:solidFill>
              <a:srgbClr val="0A0A0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995160" y="175564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named per module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502920" y="2606040"/>
            <a:ext cx="5623560" cy="91440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04088" y="2898648"/>
            <a:ext cx="329184" cy="329184"/>
          </a:xfrm>
          <a:prstGeom prst="rect">
            <a:avLst/>
          </a:prstGeom>
          <a:noFill/>
          <a:ln w="15875">
            <a:solidFill>
              <a:srgbClr val="0A0A0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188720" y="280720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salary (or agreed estimate) per role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6309360" y="2606040"/>
            <a:ext cx="5623560" cy="91440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510528" y="2898648"/>
            <a:ext cx="329184" cy="329184"/>
          </a:xfrm>
          <a:prstGeom prst="rect">
            <a:avLst/>
          </a:prstGeom>
          <a:noFill/>
          <a:ln w="15875">
            <a:solidFill>
              <a:srgbClr val="0A0A0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995160" y="280720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 calculated per module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502920" y="3657600"/>
            <a:ext cx="5623560" cy="91440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04088" y="3950208"/>
            <a:ext cx="329184" cy="329184"/>
          </a:xfrm>
          <a:prstGeom prst="rect">
            <a:avLst/>
          </a:prstGeom>
          <a:noFill/>
          <a:ln w="15875">
            <a:solidFill>
              <a:srgbClr val="0A0A0A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188720" y="385876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size scored (team, channels, modules, custom)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6309360" y="3657600"/>
            <a:ext cx="5623560" cy="91440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510528" y="3950208"/>
            <a:ext cx="329184" cy="329184"/>
          </a:xfrm>
          <a:prstGeom prst="rect">
            <a:avLst/>
          </a:prstGeom>
          <a:noFill/>
          <a:ln w="15875">
            <a:solidFill>
              <a:srgbClr val="0A0A0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995160" y="385876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band confirmed with leadership (until official bands exist)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502920" y="4709160"/>
            <a:ext cx="5623560" cy="91440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04088" y="5001768"/>
            <a:ext cx="329184" cy="329184"/>
          </a:xfrm>
          <a:prstGeom prst="rect">
            <a:avLst/>
          </a:prstGeom>
          <a:noFill/>
          <a:ln w="15875">
            <a:solidFill>
              <a:srgbClr val="0A0A0A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188720" y="491032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/ app quoted separately if needed</a:t>
            </a:r>
            <a:endParaRPr lang="en-US" sz="1400" dirty="0"/>
          </a:p>
        </p:txBody>
      </p:sp>
      <p:sp>
        <p:nvSpPr>
          <p:cNvPr id="74" name="Shape 71"/>
          <p:cNvSpPr/>
          <p:nvPr/>
        </p:nvSpPr>
        <p:spPr>
          <a:xfrm>
            <a:off x="6309360" y="4709160"/>
            <a:ext cx="5623560" cy="91440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6510528" y="5001768"/>
            <a:ext cx="329184" cy="329184"/>
          </a:xfrm>
          <a:prstGeom prst="rect">
            <a:avLst/>
          </a:prstGeom>
          <a:noFill/>
          <a:ln w="15875">
            <a:solidFill>
              <a:srgbClr val="0A0A0A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6995160" y="491032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booked</a:t>
            </a:r>
            <a:endParaRPr lang="en-US" sz="1400" dirty="0"/>
          </a:p>
        </p:txBody>
      </p:sp>
      <p:sp>
        <p:nvSpPr>
          <p:cNvPr id="77" name="Shape 74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8" name="Text 75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PROOF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these cold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50876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1520" y="165506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onyxwebsystems.co.za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31520" y="20116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story and services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6309360" y="150876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537960" y="165506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/services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6537960" y="20116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 modules and project intake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502920" y="260604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31520" y="275234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/about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731520" y="31089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and philosophy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6309360" y="260604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537960" y="275234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/book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6537960" y="31089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consultation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502920" y="370332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31520" y="384962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Thrift Rotate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731520" y="42062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proof — Pretoria streetwear</a:t>
            </a:r>
            <a:endParaRPr 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6309360" y="370332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537960" y="384962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Nightlife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6537960" y="42062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+ website proof — secnightlife.com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502920" y="480060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31520" y="494690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Conversations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731520" y="53035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thread before you call</a:t>
            </a:r>
            <a:endParaRPr lang="en-US" sz="1300" dirty="0"/>
          </a:p>
        </p:txBody>
      </p:sp>
      <p:sp>
        <p:nvSpPr>
          <p:cNvPr id="74" name="Shape 71"/>
          <p:cNvSpPr/>
          <p:nvPr/>
        </p:nvSpPr>
        <p:spPr>
          <a:xfrm>
            <a:off x="6309360" y="4800600"/>
            <a:ext cx="5623560" cy="987552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537960" y="494690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@onyxwebsystems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6537960" y="53035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and TikTok</a:t>
            </a:r>
            <a:endParaRPr lang="en-US" sz="1300" dirty="0"/>
          </a:p>
        </p:txBody>
      </p:sp>
      <p:sp>
        <p:nvSpPr>
          <p:cNvPr id="77" name="Shape 74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8" name="Text 75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0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pic>
        <p:nvPicPr>
          <p:cNvPr id="48" name="Image 0" descr="C:\Users\simel\OneDrive\Desktop\Onyxwebsystems Websites\Onyxwebsystems-website\public\brand\onyx-email-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09728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498080" y="164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02920" y="475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TO LOCK WITH LEADERSHIP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" y="7315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invent these three</a:t>
            </a:r>
            <a:endParaRPr lang="en-US" sz="3000" dirty="0"/>
          </a:p>
        </p:txBody>
      </p:sp>
      <p:sp>
        <p:nvSpPr>
          <p:cNvPr id="52" name="Shape 49"/>
          <p:cNvSpPr/>
          <p:nvPr/>
        </p:nvSpPr>
        <p:spPr>
          <a:xfrm>
            <a:off x="502920" y="1389888"/>
            <a:ext cx="1417320" cy="274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0"/>
          <p:cNvSpPr/>
          <p:nvPr/>
        </p:nvSpPr>
        <p:spPr>
          <a:xfrm>
            <a:off x="502920" y="1691640"/>
            <a:ext cx="11155680" cy="118872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77240" y="20116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5" name="Text 52"/>
          <p:cNvSpPr/>
          <p:nvPr/>
        </p:nvSpPr>
        <p:spPr>
          <a:xfrm>
            <a:off x="2011680" y="201168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13% once-off, year-one, or charged again each year?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502920" y="3063240"/>
            <a:ext cx="11155680" cy="118872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77240" y="3383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2011680" y="338328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actual retainer bands in rand?</a:t>
            </a:r>
            <a:endParaRPr lang="en-US" sz="2000" dirty="0"/>
          </a:p>
        </p:txBody>
      </p:sp>
      <p:sp>
        <p:nvSpPr>
          <p:cNvPr id="59" name="Shape 56"/>
          <p:cNvSpPr/>
          <p:nvPr/>
        </p:nvSpPr>
        <p:spPr>
          <a:xfrm>
            <a:off x="502920" y="4434840"/>
            <a:ext cx="11155680" cy="1188720"/>
          </a:xfrm>
          <a:prstGeom prst="rect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77240" y="4754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61" name="Text 58"/>
          <p:cNvSpPr/>
          <p:nvPr/>
        </p:nvSpPr>
        <p:spPr>
          <a:xfrm>
            <a:off x="2011680" y="475488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“salary” mean basic pay or cost to company?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3" name="Text 60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300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4572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13716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22860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32004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1148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0292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9436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146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" y="196596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build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next.</a:t>
            </a:r>
            <a:endParaRPr lang="en-US" sz="4800" dirty="0"/>
          </a:p>
        </p:txBody>
      </p:sp>
      <p:sp>
        <p:nvSpPr>
          <p:cNvPr id="48" name="Shape 46"/>
          <p:cNvSpPr/>
          <p:nvPr/>
        </p:nvSpPr>
        <p:spPr>
          <a:xfrm>
            <a:off x="502920" y="3977640"/>
            <a:ext cx="141732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D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onyxwebsystems.co.za     ·     onyxwebsystems@gmail.com     ·     /book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0" y="6565392"/>
            <a:ext cx="12191695" cy="1097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63854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A3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onyxwebsystems  ·  create. connect. convert.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424160" y="6638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Onyx Web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Onyx Web Systems — Salesperson Training</dc:title>
  <dc:subject>Internal sales enablement</dc:subject>
  <dc:creator>Onyx Web Systems</dc:creator>
  <cp:lastModifiedBy>Onyx Web Systems</cp:lastModifiedBy>
  <cp:revision>1</cp:revision>
  <dcterms:created xsi:type="dcterms:W3CDTF">2026-09-18T03:38:16Z</dcterms:created>
  <dcterms:modified xsi:type="dcterms:W3CDTF">2026-09-18T03:38:16Z</dcterms:modified>
</cp:coreProperties>
</file>